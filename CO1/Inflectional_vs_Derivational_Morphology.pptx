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39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1F11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822960"/>
            <a:ext cx="106070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03920" y="822960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601200" y="822960"/>
            <a:ext cx="694944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0" y="822960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92640" y="1554480"/>
            <a:ext cx="106070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0" y="1554480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789920" y="1554480"/>
            <a:ext cx="694944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89920" y="1554480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78240" y="2286000"/>
            <a:ext cx="116677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78240" y="2286000"/>
            <a:ext cx="11667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985248" y="2286000"/>
            <a:ext cx="764438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985248" y="2286000"/>
            <a:ext cx="7644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0" y="3108960"/>
            <a:ext cx="848563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0" y="3108960"/>
            <a:ext cx="84856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36224" y="3108960"/>
            <a:ext cx="555955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36224" y="3108960"/>
            <a:ext cx="5559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95360" y="3840480"/>
            <a:ext cx="106070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95360" y="3840480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92640" y="3840480"/>
            <a:ext cx="694944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92640" y="3840480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875520" y="4572000"/>
            <a:ext cx="1113739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875520" y="4572000"/>
            <a:ext cx="11137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027664" y="4572000"/>
            <a:ext cx="729691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027664" y="4572000"/>
            <a:ext cx="72969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8240" y="5303520"/>
            <a:ext cx="1007669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778240" y="5303520"/>
            <a:ext cx="100766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820656" y="5303520"/>
            <a:ext cx="660197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820656" y="5303520"/>
            <a:ext cx="66019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LINGUISTICS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1463040"/>
            <a:ext cx="6949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 of Inflectional and Derivational Morphology</a:t>
            </a:r>
            <a:endParaRPr lang="en-US" sz="34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457200" cy="54864"/>
          </a:xfrm>
          <a:prstGeom prst="rect">
            <a:avLst/>
          </a:prstGeom>
          <a:solidFill>
            <a:srgbClr val="C99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621024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8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Characteristics, applications, and challenges of two core word-formation processes in Natural Language Processing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8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&amp; Applied NLP Perspective</a:t>
            </a:r>
            <a:endParaRPr 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6B948F-C47F-0CA9-62A1-096E0328037E}"/>
              </a:ext>
            </a:extLst>
          </p:cNvPr>
          <p:cNvSpPr txBox="1"/>
          <p:nvPr/>
        </p:nvSpPr>
        <p:spPr>
          <a:xfrm>
            <a:off x="548640" y="4804913"/>
            <a:ext cx="4144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by:-</a:t>
            </a:r>
          </a:p>
          <a:p>
            <a:r>
              <a:rPr lang="en-US" dirty="0">
                <a:solidFill>
                  <a:schemeClr val="bg1"/>
                </a:solidFill>
              </a:rPr>
              <a:t>C.Jaswanth (192424334)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Sets Them Apart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morphological processes that reshape words for very different linguistic purposes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4F1F7"/>
          </a:solidFill>
          <a:ln w="12700">
            <a:solidFill>
              <a:srgbClr val="E2D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566928" cy="566928"/>
          </a:xfrm>
          <a:prstGeom prst="ellipse">
            <a:avLst/>
          </a:prstGeom>
          <a:solidFill>
            <a:srgbClr val="2E1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8562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Inflectional Morphology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2037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a word to express grammatical 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4709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 class preserved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tense, number, case, person, or degree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productive and regular across a paradigm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grammatical agreement rules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4983480"/>
            <a:ext cx="1113739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11137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20824" y="4983480"/>
            <a:ext cx="729691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20824" y="4983480"/>
            <a:ext cx="72969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71800" y="4983480"/>
            <a:ext cx="848563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71800" y="4983480"/>
            <a:ext cx="84856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9624" y="4983480"/>
            <a:ext cx="555955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9624" y="4983480"/>
            <a:ext cx="5559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5440680"/>
            <a:ext cx="1113739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5440680"/>
            <a:ext cx="11137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20824" y="5440680"/>
            <a:ext cx="729691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20824" y="5440680"/>
            <a:ext cx="72969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71800" y="5440680"/>
            <a:ext cx="121981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71800" y="5440680"/>
            <a:ext cx="12198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33672" y="5440680"/>
            <a:ext cx="799186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33672" y="5440680"/>
            <a:ext cx="79918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150876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583680" y="1874520"/>
            <a:ext cx="566928" cy="566928"/>
          </a:xfrm>
          <a:prstGeom prst="ellipse">
            <a:avLst/>
          </a:prstGeom>
          <a:solidFill>
            <a:srgbClr val="C99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0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18562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Derivational Morphology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15200" y="22037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word, often a new part of speech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2743200"/>
            <a:ext cx="4709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changes word class (verb -&gt; noun, etc.)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new lexical items with shifted meaning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predictable; gaps and irregular forms are common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expands the vocabulary, not the grammar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0" y="4983480"/>
            <a:ext cx="121981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0" y="4983480"/>
            <a:ext cx="12198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45552" y="4983480"/>
            <a:ext cx="799186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845552" y="4983480"/>
            <a:ext cx="79918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-ness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823960" y="4983480"/>
            <a:ext cx="1113739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823960" y="4983480"/>
            <a:ext cx="11137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976104" y="4983480"/>
            <a:ext cx="729691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976104" y="4983480"/>
            <a:ext cx="72969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83680" y="5440680"/>
            <a:ext cx="121981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83680" y="5440680"/>
            <a:ext cx="12198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845552" y="5440680"/>
            <a:ext cx="799186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845552" y="5440680"/>
            <a:ext cx="79918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-able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23960" y="5440680"/>
            <a:ext cx="1007669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823960" y="5440680"/>
            <a:ext cx="100766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866376" y="5440680"/>
            <a:ext cx="660197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866376" y="5440680"/>
            <a:ext cx="66019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-ive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Inflectional vs. Derivational Morphology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properties that determine how each process behaves computationally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709159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27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C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Inflectional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C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 (verb stays verb)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changes (verb -&gt; noun)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Grammatical (tense, number, case)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Lexical / semantic (new word meaning)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productive, near-exceptionless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Selectively productive, many gaps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paradigms across a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Irregular; affix choice is lexically governed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in 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Typically outermost affix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Typically closer to the root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grammatical info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1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shift meaning substantially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Inflectional vs. Derivational Morphology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in NLP Pipelines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type of morphological knowledge earns its keep in real systems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2E1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Inflectional Morphology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1042416"/>
          </a:xfrm>
          <a:prstGeom prst="roundRect">
            <a:avLst>
              <a:gd name="adj" fmla="val 8772"/>
            </a:avLst>
          </a:prstGeom>
          <a:solidFill>
            <a:srgbClr val="F4F1F7"/>
          </a:solidFill>
          <a:ln w="12700">
            <a:solidFill>
              <a:srgbClr val="E2D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2313432"/>
            <a:ext cx="365760" cy="365760"/>
          </a:xfrm>
          <a:prstGeom prst="ellipse">
            <a:avLst/>
          </a:prstGeom>
          <a:solidFill>
            <a:srgbClr val="C99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231136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 &amp; POS tagging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53288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grammatical markers to normalize tokens and disambiguate word category.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355848"/>
            <a:ext cx="5349240" cy="1042416"/>
          </a:xfrm>
          <a:prstGeom prst="roundRect">
            <a:avLst>
              <a:gd name="adj" fmla="val 8772"/>
            </a:avLst>
          </a:prstGeom>
          <a:solidFill>
            <a:srgbClr val="F4F1F7"/>
          </a:solidFill>
          <a:ln w="12700">
            <a:solidFill>
              <a:srgbClr val="E2D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3520440"/>
            <a:ext cx="365760" cy="365760"/>
          </a:xfrm>
          <a:prstGeom prst="ellipse">
            <a:avLst/>
          </a:prstGeom>
          <a:solidFill>
            <a:srgbClr val="C99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438144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Morphologically rich MT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73989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correct agreement in gender, number, and case for target languages.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562856"/>
            <a:ext cx="5349240" cy="1042416"/>
          </a:xfrm>
          <a:prstGeom prst="roundRect">
            <a:avLst>
              <a:gd name="adj" fmla="val 8772"/>
            </a:avLst>
          </a:prstGeom>
          <a:solidFill>
            <a:srgbClr val="F4F1F7"/>
          </a:solidFill>
          <a:ln w="12700">
            <a:solidFill>
              <a:srgbClr val="E2D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" y="4727448"/>
            <a:ext cx="365760" cy="365760"/>
          </a:xfrm>
          <a:prstGeom prst="ellipse">
            <a:avLst/>
          </a:prstGeom>
          <a:solidFill>
            <a:srgbClr val="C99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4727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645152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search normalization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94690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inflected forms so queries and ASR output match the base lexeme.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46304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A87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14630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Derivational Morphology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3640" y="2148840"/>
            <a:ext cx="5349240" cy="1042416"/>
          </a:xfrm>
          <a:prstGeom prst="roundRect">
            <a:avLst>
              <a:gd name="adj" fmla="val 8772"/>
            </a:avLst>
          </a:prstGeom>
          <a:solidFill>
            <a:srgbClr val="F4F1F7"/>
          </a:solidFill>
          <a:ln w="12700">
            <a:solidFill>
              <a:srgbClr val="E2D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64808" y="2313432"/>
            <a:ext cx="365760" cy="365760"/>
          </a:xfrm>
          <a:prstGeom prst="ellipse">
            <a:avLst/>
          </a:prstGeom>
          <a:solidFill>
            <a:srgbClr val="C99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64808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2231136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out-of-vocabulary words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253288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and morpheme-aware embeddings decompose unseen derived words.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3355848"/>
            <a:ext cx="5349240" cy="1042416"/>
          </a:xfrm>
          <a:prstGeom prst="roundRect">
            <a:avLst>
              <a:gd name="adj" fmla="val 8772"/>
            </a:avLst>
          </a:prstGeom>
          <a:solidFill>
            <a:srgbClr val="F4F1F7"/>
          </a:solidFill>
          <a:ln w="12700">
            <a:solidFill>
              <a:srgbClr val="E2D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64808" y="3520440"/>
            <a:ext cx="365760" cy="365760"/>
          </a:xfrm>
          <a:prstGeom prst="ellipse">
            <a:avLst/>
          </a:prstGeom>
          <a:solidFill>
            <a:srgbClr val="C99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64808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95160" y="3438144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stance analysis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373989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Affixes like -less or -ful shift polarity, informing lexicon-based scoring.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4562856"/>
            <a:ext cx="5349240" cy="1042416"/>
          </a:xfrm>
          <a:prstGeom prst="roundRect">
            <a:avLst>
              <a:gd name="adj" fmla="val 8772"/>
            </a:avLst>
          </a:prstGeom>
          <a:solidFill>
            <a:srgbClr val="F4F1F7"/>
          </a:solidFill>
          <a:ln w="12700">
            <a:solidFill>
              <a:srgbClr val="E2D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64808" y="4727448"/>
            <a:ext cx="365760" cy="365760"/>
          </a:xfrm>
          <a:prstGeom prst="ellipse">
            <a:avLst/>
          </a:prstGeom>
          <a:solidFill>
            <a:srgbClr val="C99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64808" y="4727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95160" y="4645152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 &amp; IR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494690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root-related terms (act, action, active) to broaden search recall.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Inflectional vs. Derivational Morphology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for NLP Systems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processes complicate tokenization, generalization, and cross-lingual modeling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1F1130"/>
          </a:solidFill>
          <a:ln w="12700">
            <a:solidFill>
              <a:srgbClr val="4634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01368"/>
            <a:ext cx="384048" cy="384048"/>
          </a:xfrm>
          <a:prstGeom prst="ellipse">
            <a:avLst/>
          </a:prstGeom>
          <a:solidFill>
            <a:srgbClr val="C99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31343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ambiguity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679192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 word into stem and affix is often not unique — e.g. "unlockable" allows two valid readings.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1F1130"/>
          </a:solidFill>
          <a:ln w="12700">
            <a:solidFill>
              <a:srgbClr val="4634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1801368"/>
            <a:ext cx="384048" cy="384048"/>
          </a:xfrm>
          <a:prstGeom prst="ellipse">
            <a:avLst/>
          </a:prstGeom>
          <a:solidFill>
            <a:srgbClr val="C99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9432" y="231343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&amp; suppletive forms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9432" y="2679192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like go/went or good/better break regular rule-based morphological analyzers.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1F1130"/>
          </a:solidFill>
          <a:ln w="12700">
            <a:solidFill>
              <a:srgbClr val="4634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66760" y="1801368"/>
            <a:ext cx="384048" cy="384048"/>
          </a:xfrm>
          <a:prstGeom prst="ellipse">
            <a:avLst/>
          </a:prstGeom>
          <a:solidFill>
            <a:srgbClr val="C99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66760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94192" y="231343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Agglutinative &amp; polysynthetic languages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94192" y="2679192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Turkish, Finnish, or Inuktitut can chain many morphemes, exploding vocabulary size.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1F1130"/>
          </a:solidFill>
          <a:ln w="12700">
            <a:solidFill>
              <a:srgbClr val="4634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3995928"/>
            <a:ext cx="384048" cy="384048"/>
          </a:xfrm>
          <a:prstGeom prst="ellipse">
            <a:avLst/>
          </a:prstGeom>
          <a:solidFill>
            <a:srgbClr val="C99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995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45079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Derivational gaps &amp; blocking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4873752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root accepts every affix; *gladness vs. happiness style gaps are hard to predict.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1F1130"/>
          </a:solidFill>
          <a:ln w="12700">
            <a:solidFill>
              <a:srgbClr val="4634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3995928"/>
            <a:ext cx="384048" cy="384048"/>
          </a:xfrm>
          <a:prstGeom prst="ellipse">
            <a:avLst/>
          </a:prstGeom>
          <a:solidFill>
            <a:srgbClr val="C99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3995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99432" y="45079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inflection/derivation boundary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99432" y="4873752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like participles and comparatives sit between the two, complicating labeling schemes.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7947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1F1130"/>
          </a:solidFill>
          <a:ln w="12700">
            <a:solidFill>
              <a:srgbClr val="4634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66760" y="3995928"/>
            <a:ext cx="384048" cy="384048"/>
          </a:xfrm>
          <a:prstGeom prst="ellipse">
            <a:avLst/>
          </a:prstGeom>
          <a:solidFill>
            <a:srgbClr val="C99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66760" y="3995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94192" y="45079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Low-resource language coverage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94192" y="4873752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analyzers and annotated corpora are scarce outside major world languages.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7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Inflectional vs. Derivational Morphology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distinction matters for building better language technology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4F1F7"/>
          </a:solidFill>
          <a:ln w="12700">
            <a:solidFill>
              <a:srgbClr val="E2D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9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vs. Lexicon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04495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 serves syntax; derivation builds the vocabulary itself.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4F1F7"/>
          </a:solidFill>
          <a:ln w="12700">
            <a:solidFill>
              <a:srgbClr val="E2D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7830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9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0" y="25603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 Gap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04495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Inflectional rules generalize reliably; derivational rules need lexical lookup or learned models.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4F1F7"/>
          </a:solidFill>
          <a:ln w="12700">
            <a:solidFill>
              <a:srgbClr val="E2D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66760" y="17830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9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66760" y="25603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304495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pipelines model both — normalizing for grammar while decomposing for meaning.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1874520"/>
          </a:xfrm>
          <a:prstGeom prst="roundRect">
            <a:avLst>
              <a:gd name="adj" fmla="val 5854"/>
            </a:avLst>
          </a:prstGeom>
          <a:solidFill>
            <a:srgbClr val="2E1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52628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NLP systems — from morphological analyzers to subword tokenizers like BPE — succeed by treating inflection and derivation as distinct but complementary layers of word structure.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840" y="5440680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5440680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54480" y="5440680"/>
            <a:ext cx="347472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54480" y="544068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0" y="5440680"/>
            <a:ext cx="848563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11680" y="5440680"/>
            <a:ext cx="84856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89504" y="5440680"/>
            <a:ext cx="555955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89504" y="5440680"/>
            <a:ext cx="5559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29000" y="5440680"/>
            <a:ext cx="68945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29000" y="5440680"/>
            <a:ext cx="6894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42232" y="5440680"/>
            <a:ext cx="451714" cy="310896"/>
          </a:xfrm>
          <a:prstGeom prst="roundRect">
            <a:avLst>
              <a:gd name="adj" fmla="val 17647"/>
            </a:avLst>
          </a:prstGeom>
          <a:solidFill>
            <a:srgbClr val="C9972B"/>
          </a:solidFill>
          <a:ln w="12700">
            <a:solidFill>
              <a:srgbClr val="C9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42232" y="5440680"/>
            <a:ext cx="45171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54406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+ happy + ness  -&gt;  layered derivation, then inflected as needed (unhappinesses is blocked)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Inflectional vs. Derivational Morphology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694</Words>
  <Application>Microsoft Office PowerPoint</Application>
  <PresentationFormat>Widescreen</PresentationFormat>
  <Paragraphs>152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CHITTEM JASWANTH</cp:lastModifiedBy>
  <cp:revision>2</cp:revision>
  <dcterms:created xsi:type="dcterms:W3CDTF">2026-07-23T03:36:34Z</dcterms:created>
  <dcterms:modified xsi:type="dcterms:W3CDTF">2026-07-23T03:47:20Z</dcterms:modified>
</cp:coreProperties>
</file>